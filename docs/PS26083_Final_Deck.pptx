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>
              <a:alpha val="9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26083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Heatwave Early Warning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Thermal Stress Index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TechForge  ·  Ministry of Earth Sciences (MoES) / NCMRWF  ·  Theme: Disaster Management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377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heat warnings tell us how hot it will be.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translate that into what the weather will do to human health.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Heat Warnings Miss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1155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Dry-bulb temperature only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4447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 at 20% humidity feels nothing like 40°C at 70% humidity — the latter compounds toward fatal.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75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humidity, wind, or radiation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048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physically change how much heat the human body actually absorbs and can shed.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35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nighttime accounting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649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 need cool nights to recover. Persistent hot nights across a heatwave are invisible to daily alerts.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995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cumulative burden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3251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hot day is treated the same as day 5 of an unbroken heatwave — health risk is not the same.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956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City-wide, not hyper-local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2852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for the whole city hides which specific wards are most exposed and least equipped to cope.</a:t>
            </a:r>
            <a:endParaRPr lang="en-US" sz="1200" dirty="0"/>
          </a:p>
        </p:txBody>
      </p:sp>
      <p:pic>
        <p:nvPicPr>
          <p:cNvPr id="18" name="Image 0" descr="proof_of_work/nighttime_utci_vs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34440"/>
            <a:ext cx="5486400" cy="195681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309360" y="3246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nighttime UTCI staying above the historical baseline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 straight nights during May 2024 — invisible to daily alerts.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966960" y="320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C7A3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96696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DEMONSTRATED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Innovation — NCTL + CTBI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66960" y="320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C7A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DEMONSTRATED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NCTL — Nighttime Cumulative Thermal Load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nighttime UTCI above the local historical 90th-percentile baseline — degree-hours of unrecovered heat, every night.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CTBI — Cumulative Thermal Burden Index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CTBI(t) = α·CTBI(t−1) + β·DayStress_norm(t) + γ·NCTL_norm(t) — multi-day heat memory, not a single-day snapshot.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"They operationalize persistent nighttime thermal load and cumulative thermal burden — moving from prediction to intervention priority."</a:t>
            </a:r>
            <a:endParaRPr lang="en-US" sz="1400" dirty="0"/>
          </a:p>
        </p:txBody>
      </p:sp>
      <p:pic>
        <p:nvPicPr>
          <p:cNvPr id="10" name="Image 0" descr="proof_of_work/ctbi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143000"/>
            <a:ext cx="5486400" cy="1920240"/>
          </a:xfrm>
          <a:prstGeom prst="rect">
            <a:avLst/>
          </a:prstGeom>
        </p:spPr>
      </p:pic>
      <p:pic>
        <p:nvPicPr>
          <p:cNvPr id="11" name="Image 1" descr="proof_of_work/ctbi_sensitivity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24612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Weather to Priority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66960" y="320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C7A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DEMONSTRATED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(Copernicus)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847088" y="1371600"/>
            <a:ext cx="192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93392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93392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+ MRT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371600"/>
            <a:ext cx="192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38144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38144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(pythermalcomfort)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1371600"/>
            <a:ext cx="192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2896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82896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DayStress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1371600"/>
            <a:ext cx="192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7648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7648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(multi-day)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1371600"/>
            <a:ext cx="192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0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A7BEA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0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spatial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(48)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1371600"/>
            <a:ext cx="192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17152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A7BEA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17152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capacity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1371600"/>
            <a:ext cx="192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1904" y="1371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8B3A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61904" y="1371600"/>
            <a:ext cx="129844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200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xarray, pandas, GeoPandas · pythermalcomfort (UTCI) · Streamlit + Plotly · Google Earth Engine (WorldPop, Sentinel-2) · GitHub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(never cut)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480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→ UTCI → NCTL → CTBI → Spatial → Priority → Action → Dashboard. Everything else is enhancement.</a:t>
            </a:r>
            <a:endParaRPr lang="en-US" sz="1250" dirty="0"/>
          </a:p>
        </p:txBody>
      </p:sp>
      <p:pic>
        <p:nvPicPr>
          <p:cNvPr id="32" name="Image 0" descr="proof_of_work/utci_6year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788920"/>
            <a:ext cx="557784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🔥 Real Proof of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66960" y="320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C7A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DEMONSTRATED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ERA5 data → real UTCI → real NCTL → real CTBI. Six full heatwave seasons, 2021–2026.</a:t>
            </a:r>
            <a:endParaRPr lang="en-US" sz="1300" dirty="0"/>
          </a:p>
        </p:txBody>
      </p:sp>
      <p:pic>
        <p:nvPicPr>
          <p:cNvPr id="6" name="Image 0" descr="proof_of_work/utci_may2024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1920240"/>
          </a:xfrm>
          <a:prstGeom prst="rect">
            <a:avLst/>
          </a:prstGeom>
        </p:spPr>
      </p:pic>
      <p:pic>
        <p:nvPicPr>
          <p:cNvPr id="7" name="Image 1" descr="proof_of_work/nctl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577840" cy="1920240"/>
          </a:xfrm>
          <a:prstGeom prst="rect">
            <a:avLst/>
          </a:prstGeom>
        </p:spPr>
      </p:pic>
      <p:pic>
        <p:nvPicPr>
          <p:cNvPr id="8" name="Image 2" descr="proof_of_work/ctbi_grap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5486400" cy="1874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09360" y="35204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sanity check (Khushi, Day 3): CTBI rises to peak and declines after in all 6 seasons; season's max NCTL correlates with peak CTBI at r = 0.944.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Ward-Level Intelligence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66960" y="320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C7A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DEMONSTRATED</a:t>
            </a:r>
            <a:endParaRPr lang="en-US" sz="1100" dirty="0"/>
          </a:p>
        </p:txBody>
      </p:sp>
      <p:pic>
        <p:nvPicPr>
          <p:cNvPr id="5" name="Image 0" descr="proof_of_work/ahmedabad_wards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426464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09360" y="1280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real AMC ward boundaries (post-2021 delimitation), loaded via GeoPandas.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2478024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2331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grid points spatially joined to ward centroids (nearest-grid-point method — documented, not exact interpolation).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3529584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33832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WorldPop 100m population density + Sentinel-2 NDVI, aggregated per ward — chosen after 2011 Census ward boundaries were found incompatible with current wards (no official crosswalk exists).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4581144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44348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Sanity-checked: total estimated population 60.9 lakh vs Ahmedabad's actual ~63–65 lakh.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Heat-Health Priority — Transparent Rubric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66960" y="320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PROTOTYPE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thermal burden + High vulnerability + Low response capacity = CRITICAL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not machine-learned — every threshold is documented in the Decision Log, not invented live.</a:t>
            </a:r>
            <a:endParaRPr lang="en-US" sz="1250" dirty="0"/>
          </a:p>
        </p:txBody>
      </p:sp>
      <p:pic>
        <p:nvPicPr>
          <p:cNvPr id="7" name="Image 0" descr="proof_of_work/final_priority_map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0"/>
            <a:ext cx="5303520" cy="4572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103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23 High-priority wards, 25 Moderate — a real, spatially-varying split from real CTBI + real vulnerability (population density, green cover).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017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cap: CRITICAL is never shown yet. Response capacity (healthcare access) isn't built — the rubric shows "HIGH (partial — response capacity pending)" rather than fabricate the third factor.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42062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Q&amp;A-ready answer: "We use an interpretable rule-based proxy because ward-level mortality/hospitalization labels aren't publicly available. We did not fabricate training labels."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Working Prototype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66960" y="320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PROTOTYPE</a:t>
            </a:r>
            <a:endParaRPr lang="en-US" sz="1100" dirty="0"/>
          </a:p>
        </p:txBody>
      </p:sp>
      <p:pic>
        <p:nvPicPr>
          <p:cNvPr id="5" name="Image 0" descr="proof_of_work/vrinda_day4_dashboard_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→ Explain → Prioritize → 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E7E8D1"/>
          </a:solidFill>
          <a:ln w="19050">
            <a:solidFill>
              <a:srgbClr val="2C7A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UTCI / NCTL / CTBI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ERA5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3375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C7A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DEMONSTRATED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2860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E7E8D1"/>
          </a:solidFill>
          <a:ln w="19050">
            <a:solidFill>
              <a:srgbClr val="2C7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ward, why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CTBI + vulnerability drivers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33375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C7A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0332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DEMONSTRATED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2860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E7E8D1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priority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(Low/Moderate/High)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3375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PROTOTYPE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22860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961120" y="14630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E7E8D1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HAP-grounded 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81160" y="33375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11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PROTOTYPE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297680"/>
            <a:ext cx="10972800" cy="1645920"/>
          </a:xfrm>
          <a:prstGeom prst="roundRect">
            <a:avLst>
              <a:gd name="adj" fmla="val 5556"/>
            </a:avLst>
          </a:prstGeom>
          <a:solidFill>
            <a:srgbClr val="3645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FUTURE — Phase 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health outcomes (hospitalization/mortality) + this same feature set → XGBoost/baseline models → SHAP explainability → calibrated 3–5 day health-impact warning. Requires institutional data we cannot honestly manufacture today.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Validation &amp; Scale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corporations (AMC and beyond) · Disaster management authorities · NCMRWF / IMD forecasting integration · Public health departments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 (once real labels exist)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AUROC, F1, Recall, and calibration curves against real hospitalization/mortality records — not claimed today, planned for Phase 2 once institutional data access is granted.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 (Ahmedabad, prototype) → other Heat Action Plan cities with similar data availability → national NCMRWF-integrated network.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confidently claim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737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operational prototype that transforms hourly meteorological data into human thermal stress, quantifies persistent nighttime thermal load, accumulates that burden over multiple days, and maps it spatially for heat-health prioritization."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not claim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947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Mortality prediction with X% accuracy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Clinically validated recovery index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Ward-level ERA5 (it's ~25km, spatially joined honestly)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"Scientifically correct" α = 0.7 (chosen, sensitivity-tested)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Real SHAP (none run — future work only)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2026-09-01T09:54:55Z</dcterms:created>
  <dcterms:modified xsi:type="dcterms:W3CDTF">2026-09-01T09:54:55Z</dcterms:modified>
</cp:coreProperties>
</file>